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14"/>
  </p:notesMasterIdLst>
  <p:sldIdLst>
    <p:sldId id="262" r:id="rId5"/>
    <p:sldId id="263" r:id="rId6"/>
    <p:sldId id="264" r:id="rId7"/>
    <p:sldId id="265" r:id="rId8"/>
    <p:sldId id="266" r:id="rId9"/>
    <p:sldId id="269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8B9D6-14A3-4F67-BB0F-EADB449E01C7}" v="279" dt="2025-12-16T19:19:49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668D-6331-46AD-AEB6-30F2733FBA0E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B0EDD-7F78-4EB3-AFE3-3787421797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067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B0EDD-7F78-4EB3-AFE3-378742179794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9428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B0EDD-7F78-4EB3-AFE3-378742179794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064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1DF9-CD84-DBC4-FA96-7D869BEA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80D0D5D-30E7-720A-02D7-4DC6B10B2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D1633B9-1CEF-AF96-1A2E-86CC1E551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D92BE1-7AC5-6D00-A546-F6F9F4C0B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B0EDD-7F78-4EB3-AFE3-378742179794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4123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4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5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64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5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2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7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2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3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6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42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149334AD-5281-5229-AE82-F0F6850E9B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7000"/>
                </a:schemeClr>
              </a:gs>
              <a:gs pos="36000">
                <a:schemeClr val="tx1">
                  <a:alpha val="42000"/>
                </a:schemeClr>
              </a:gs>
              <a:gs pos="54000">
                <a:schemeClr val="tx1">
                  <a:alpha val="22000"/>
                </a:schemeClr>
              </a:gs>
              <a:gs pos="69000">
                <a:schemeClr val="tx1">
                  <a:alpha val="0"/>
                </a:schemeClr>
              </a:gs>
            </a:gsLst>
            <a:lin ang="0" scaled="1"/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1DDBFDC-C669-D446-F5F7-C8C513F9F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solidFill>
                  <a:srgbClr val="FFFFFF"/>
                </a:solidFill>
              </a:rPr>
              <a:t>Symulator Daltonizmu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9805BA9-DA8F-F7EF-37EF-74C1029932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pl-PL" dirty="0">
                <a:solidFill>
                  <a:srgbClr val="FFFFFF"/>
                </a:solidFill>
              </a:rPr>
              <a:t>Autor: Mateusz Smuda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95364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AF690-280A-E307-F674-2E625E44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ADE093FB-76CA-8B38-EDD7-F9CEBD3176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7000"/>
                </a:schemeClr>
              </a:gs>
              <a:gs pos="36000">
                <a:schemeClr val="tx1">
                  <a:alpha val="42000"/>
                </a:schemeClr>
              </a:gs>
              <a:gs pos="54000">
                <a:schemeClr val="tx1">
                  <a:alpha val="22000"/>
                </a:schemeClr>
              </a:gs>
              <a:gs pos="69000">
                <a:schemeClr val="tx1">
                  <a:alpha val="0"/>
                </a:schemeClr>
              </a:gs>
            </a:gsLst>
            <a:lin ang="0" scaled="1"/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38B9366-5D29-11DE-09CB-632E38360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FFFF"/>
                </a:solidFill>
              </a:rPr>
              <a:t>Agenda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D2921AD-F587-41FB-8861-576AFCCF8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  <a:buAutoNum type="arabicPeriod"/>
            </a:pPr>
            <a:r>
              <a:rPr lang="pl-PL" sz="2400" dirty="0">
                <a:solidFill>
                  <a:srgbClr val="FFFFFF"/>
                </a:solidFill>
              </a:rPr>
              <a:t>Problematyka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pl-PL" sz="2400" dirty="0">
                <a:solidFill>
                  <a:schemeClr val="bg1"/>
                </a:solidFill>
              </a:rPr>
              <a:t>Algorytmy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pl-PL" sz="2400" dirty="0">
                <a:solidFill>
                  <a:schemeClr val="bg1"/>
                </a:solidFill>
              </a:rPr>
              <a:t>Widok aplikacji z funkcjonalnościami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pl-PL" sz="2400" dirty="0">
                <a:solidFill>
                  <a:schemeClr val="bg1"/>
                </a:solidFill>
              </a:rPr>
              <a:t>Wnioski i podsumowanie</a:t>
            </a:r>
          </a:p>
        </p:txBody>
      </p:sp>
    </p:spTree>
    <p:extLst>
      <p:ext uri="{BB962C8B-B14F-4D97-AF65-F5344CB8AC3E}">
        <p14:creationId xmlns:p14="http://schemas.microsoft.com/office/powerpoint/2010/main" val="18515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43353-EFD2-8B06-BCE2-516897BB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58B91941-2DC2-2729-54DF-993AAB7404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tx1">
                  <a:alpha val="49000"/>
                </a:schemeClr>
              </a:gs>
              <a:gs pos="57000">
                <a:schemeClr val="tx1">
                  <a:alpha val="42000"/>
                </a:schemeClr>
              </a:gs>
              <a:gs pos="79000">
                <a:schemeClr val="tx1">
                  <a:alpha val="25000"/>
                </a:schemeClr>
              </a:gs>
              <a:gs pos="93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ED19C4-AD59-7500-82E0-E4C89D24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535259"/>
            <a:ext cx="10890929" cy="1097280"/>
          </a:xfrm>
        </p:spPr>
        <p:txBody>
          <a:bodyPr/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Problematyka – czym jest daltonizm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4C1868C-6377-AFF1-DF46-14EC924F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Daltonizm inaczej zwany ślepotą barw jest niezdolnością do spostrzegania różnic pomiędzy niektórymi lub wszystkimi barwami. Wynika to z wadliwego lub całkowitego braku funkcjonowania czopków i pociąga za sobą problemy najczęstsze z nich dotyczą odróżniania barw czerwonych, żółtych i zielonych od innych barw. Łącznie problemy te określa się jako „ślepotę czerwono-zieloną” tzw. daltonizm, występują też rzadsze formy zaburzeń związanych z rozpoznawaniem barw takie jak nierozróżnianie niebieskiego od żółtego, a także najrzadsze z zaburzeń polegające na całkowitej ślepocie barw(</a:t>
            </a:r>
            <a:r>
              <a:rPr lang="pl-PL" dirty="0" err="1">
                <a:solidFill>
                  <a:schemeClr val="bg1"/>
                </a:solidFill>
              </a:rPr>
              <a:t>monochromacji</a:t>
            </a:r>
            <a:r>
              <a:rPr lang="pl-PL" dirty="0">
                <a:solidFill>
                  <a:schemeClr val="bg1"/>
                </a:solidFill>
              </a:rPr>
              <a:t>), które polega na nierozróżnianiu jakichkolwiek barw.</a:t>
            </a:r>
          </a:p>
        </p:txBody>
      </p:sp>
    </p:spTree>
    <p:extLst>
      <p:ext uri="{BB962C8B-B14F-4D97-AF65-F5344CB8AC3E}">
        <p14:creationId xmlns:p14="http://schemas.microsoft.com/office/powerpoint/2010/main" val="65456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A8685-63EB-720D-23FE-7E9C8F07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CB99B537-43CC-3CD8-D5A0-6CDEC974C7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7000"/>
                </a:schemeClr>
              </a:gs>
              <a:gs pos="36000">
                <a:schemeClr val="tx1">
                  <a:alpha val="42000"/>
                </a:schemeClr>
              </a:gs>
              <a:gs pos="54000">
                <a:schemeClr val="tx1">
                  <a:alpha val="22000"/>
                </a:schemeClr>
              </a:gs>
              <a:gs pos="69000">
                <a:schemeClr val="tx1">
                  <a:alpha val="0"/>
                </a:schemeClr>
              </a:gs>
            </a:gsLst>
            <a:lin ang="0" scaled="1"/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04F028F-3ADD-7EEF-BF60-7EE08C42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19456"/>
            <a:ext cx="10890929" cy="2142744"/>
          </a:xfrm>
        </p:spPr>
        <p:txBody>
          <a:bodyPr/>
          <a:lstStyle/>
          <a:p>
            <a:r>
              <a:rPr lang="pl-PL" dirty="0">
                <a:solidFill>
                  <a:srgbClr val="FFFFFF"/>
                </a:solidFill>
              </a:rPr>
              <a:t>Problematyka – przykłady </a:t>
            </a:r>
            <a:br>
              <a:rPr lang="pl-PL" dirty="0">
                <a:solidFill>
                  <a:srgbClr val="FFFFFF"/>
                </a:solidFill>
              </a:rPr>
            </a:br>
            <a:r>
              <a:rPr lang="pl-PL" dirty="0">
                <a:solidFill>
                  <a:srgbClr val="FFFFFF"/>
                </a:solidFill>
              </a:rPr>
              <a:t>niedowidzenia barw</a:t>
            </a:r>
            <a:endParaRPr lang="pl-P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540D0F-CE57-9471-7FBC-EB74A8E9BD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29" y="2939749"/>
            <a:ext cx="4761905" cy="229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az 5" descr="Obraz zawierający przyrząd do pisania, tekst, Materiały biurowe, materiały biurowe&#10;&#10;Zawartość wygenerowana przez AI może być niepoprawna.">
            <a:extLst>
              <a:ext uri="{FF2B5EF4-FFF2-40B4-BE49-F238E27FC236}">
                <a16:creationId xmlns:a16="http://schemas.microsoft.com/office/drawing/2014/main" id="{4437F0B9-DD36-EBAF-D9DC-489E2EEEA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735" y="87956"/>
            <a:ext cx="2069364" cy="668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40F71-CD88-6C89-4FAC-8A0EB5BF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E326FA3-AF98-84A4-ED94-E00BDFA746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tx1">
                  <a:alpha val="49000"/>
                </a:schemeClr>
              </a:gs>
              <a:gs pos="57000">
                <a:schemeClr val="tx1">
                  <a:alpha val="42000"/>
                </a:schemeClr>
              </a:gs>
              <a:gs pos="79000">
                <a:schemeClr val="tx1">
                  <a:alpha val="25000"/>
                </a:schemeClr>
              </a:gs>
              <a:gs pos="93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CA45937-87CD-6E47-4107-E1A4C949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70115"/>
            <a:ext cx="10890929" cy="1097280"/>
          </a:xfrm>
        </p:spPr>
        <p:txBody>
          <a:bodyPr/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Algorytmy (Machado 2009)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E534C2-611F-EC30-363D-D154861E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739590"/>
            <a:ext cx="10890928" cy="44600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Algorytmy symulacji daltonizmu opierające się na zmodyfikowaniu wartości poszczególnych kanałów kolorów: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Deuteranopia: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</a:t>
            </a:r>
            <a:r>
              <a:rPr lang="pl-PL">
                <a:solidFill>
                  <a:schemeClr val="bg1"/>
                </a:solidFill>
              </a:rPr>
              <a:t>Kanał czerwony: </a:t>
            </a:r>
            <a:r>
              <a:rPr lang="pl-PL" dirty="0">
                <a:solidFill>
                  <a:schemeClr val="bg1"/>
                </a:solidFill>
              </a:rPr>
              <a:t>R’ = 0.367 * R + 0.861 * G – 0.228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zielony: G’ = 0.280 * R + 0.673 * G + 0.047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niebieski: B’ = -0.012 * R + 0.043 * G + 0.969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Protanopia: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czerwony: R’ = 0.152 * R + 1.052 * G – 0.205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zielony: G’ = 0.115 * R + 0.786 * G – 0.099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niebieski: B’ = -0.003 * R – 0.048 * G + 1.052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Tritanopia: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czerwony: R’ = 1.256 * R - 0.077 * G – 0.179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zielony: G’ = -0.078 * R + 0.931 * G + 0.148 * B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• Kanał niebieski: B’ = 0.005 * R + 0.691 * G – 0.304 * B</a:t>
            </a:r>
          </a:p>
          <a:p>
            <a:pPr marL="0" indent="0">
              <a:buNone/>
            </a:pPr>
            <a:endParaRPr lang="pl-PL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5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327EE-7978-DE34-1EC5-DDC9B357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A15883BC-7143-FFDE-A1F5-50DE98103A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tx1">
                  <a:alpha val="49000"/>
                </a:schemeClr>
              </a:gs>
              <a:gs pos="57000">
                <a:schemeClr val="tx1">
                  <a:alpha val="42000"/>
                </a:schemeClr>
              </a:gs>
              <a:gs pos="79000">
                <a:schemeClr val="tx1">
                  <a:alpha val="25000"/>
                </a:schemeClr>
              </a:gs>
              <a:gs pos="93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9CEFA1B-5FAB-8B31-DC2A-197261605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70115"/>
            <a:ext cx="10890929" cy="1097280"/>
          </a:xfrm>
        </p:spPr>
        <p:txBody>
          <a:bodyPr/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Wielowątkowość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94836A2-6B17-E7D3-5BB2-15B58B64E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739590"/>
            <a:ext cx="10890928" cy="4460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Każdy piksel jest przetwarzany niezależnie. Obraz jest dzielony na poziome pasy. Jeśli użytkownik wybierze 4 wątki, obraz zostanie podzielony na 4 równe części, a każdy wątek zajmie się swoją częścią w tym samym czasie.</a:t>
            </a:r>
          </a:p>
          <a:p>
            <a:pPr marL="0" indent="0">
              <a:lnSpc>
                <a:spcPct val="120000"/>
              </a:lnSpc>
              <a:buNone/>
            </a:pP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18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56513-9D45-AB6A-8C04-DABAB0DF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A7357F72-C113-25DA-FD90-FEC398D8DD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"/>
                </a:schemeClr>
              </a:gs>
              <a:gs pos="36000">
                <a:schemeClr val="tx1">
                  <a:alpha val="10000"/>
                </a:schemeClr>
              </a:gs>
              <a:gs pos="54000">
                <a:schemeClr val="tx1">
                  <a:alpha val="10000"/>
                </a:schemeClr>
              </a:gs>
              <a:gs pos="69000">
                <a:schemeClr val="tx1">
                  <a:alpha val="10000"/>
                </a:schemeClr>
              </a:gs>
            </a:gsLst>
            <a:lin ang="0" scaled="1"/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D4C5817-3F69-7706-1713-5E608061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4" y="453764"/>
            <a:ext cx="10890929" cy="1097280"/>
          </a:xfrm>
        </p:spPr>
        <p:txBody>
          <a:bodyPr/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Widok aplikacji wraz z funkcjonalnościami</a:t>
            </a:r>
            <a:endParaRPr lang="pl-PL" dirty="0"/>
          </a:p>
        </p:txBody>
      </p:sp>
      <p:pic>
        <p:nvPicPr>
          <p:cNvPr id="12" name="Symbol zastępczy zawartości 11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1584E56B-B92D-DE3F-C5C9-D00814286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698" y="1404339"/>
            <a:ext cx="7086600" cy="5298546"/>
          </a:xfrm>
        </p:spPr>
      </p:pic>
    </p:spTree>
    <p:extLst>
      <p:ext uri="{BB962C8B-B14F-4D97-AF65-F5344CB8AC3E}">
        <p14:creationId xmlns:p14="http://schemas.microsoft.com/office/powerpoint/2010/main" val="106036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CB8DF-95F5-F29F-9C58-B2F9C191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4558FE54-6767-20B1-D8AE-3929DDBF1A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tx1">
                  <a:alpha val="49000"/>
                </a:schemeClr>
              </a:gs>
              <a:gs pos="57000">
                <a:schemeClr val="tx1">
                  <a:alpha val="42000"/>
                </a:schemeClr>
              </a:gs>
              <a:gs pos="79000">
                <a:schemeClr val="tx1">
                  <a:alpha val="25000"/>
                </a:schemeClr>
              </a:gs>
              <a:gs pos="93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2B99D26-D9F2-ACC2-E70A-9FC34E07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Wnioski i podsumowanie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CBD3EC8-6959-92AE-401C-0D0535633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Program symuluje daltonizm w obrazach z wykorzystaniem wielowątkowości. Dzięki programowi można zobaczyć jak osoby posiadające dany typ daltonizmu postrzegają barwy.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Program zostanie zaimplementowany w języku C++ oraz w asemblerze dzięki czemu będzie możliwe porównanie efektywności dwóch implementacji programu. </a:t>
            </a:r>
          </a:p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</a:rPr>
              <a:t>Program umożliwia symulację deuteranopii(niedowidzenie koloru zielonego), protanopii(niedowidzenie koloru czerwonego), tritanopii(niedowidzenie koloru niebieskiego)</a:t>
            </a:r>
          </a:p>
          <a:p>
            <a:pPr marL="0" indent="0">
              <a:lnSpc>
                <a:spcPct val="120000"/>
              </a:lnSpc>
              <a:buNone/>
            </a:pP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67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25B5E-2DEE-84CA-F99C-0ECA3DEF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9138CADF-D22B-132C-33F9-C246C4D009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tx1">
                  <a:alpha val="49000"/>
                </a:schemeClr>
              </a:gs>
              <a:gs pos="57000">
                <a:schemeClr val="tx1">
                  <a:alpha val="42000"/>
                </a:schemeClr>
              </a:gs>
              <a:gs pos="79000">
                <a:schemeClr val="tx1">
                  <a:alpha val="25000"/>
                </a:schemeClr>
              </a:gs>
              <a:gs pos="93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D6AC644-3C10-3088-9C31-4B2B10D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Dziękuję za uwagę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2BA8C1E-E978-FF06-9353-40B07BDE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93700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F89A9F0A5CB3443AFC70DD3E005EBB0" ma:contentTypeVersion="8" ma:contentTypeDescription="Utwórz nowy dokument." ma:contentTypeScope="" ma:versionID="3697165d4fe059759cda32bcd2d8a287">
  <xsd:schema xmlns:xsd="http://www.w3.org/2001/XMLSchema" xmlns:xs="http://www.w3.org/2001/XMLSchema" xmlns:p="http://schemas.microsoft.com/office/2006/metadata/properties" xmlns:ns2="a1ff1ffe-154e-4985-bf7d-d15edc133089" targetNamespace="http://schemas.microsoft.com/office/2006/metadata/properties" ma:root="true" ma:fieldsID="744b61390cb5cab3045ea34719bf4d19" ns2:_="">
    <xsd:import namespace="a1ff1ffe-154e-4985-bf7d-d15edc1330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f1ffe-154e-4985-bf7d-d15edc133089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a1ff1ffe-154e-4985-bf7d-d15edc133089" xsi:nil="true"/>
  </documentManagement>
</p:properties>
</file>

<file path=customXml/itemProps1.xml><?xml version="1.0" encoding="utf-8"?>
<ds:datastoreItem xmlns:ds="http://schemas.openxmlformats.org/officeDocument/2006/customXml" ds:itemID="{1E1EE064-C97E-4E48-AF55-98C42E7EED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4D68B8-9C9B-4317-B493-E4C48931AF57}"/>
</file>

<file path=customXml/itemProps3.xml><?xml version="1.0" encoding="utf-8"?>
<ds:datastoreItem xmlns:ds="http://schemas.openxmlformats.org/officeDocument/2006/customXml" ds:itemID="{D056F580-18A8-4F02-8C8F-D7C7D1189053}">
  <ds:schemaRefs>
    <ds:schemaRef ds:uri="http://www.w3.org/XML/1998/namespace"/>
    <ds:schemaRef ds:uri="237a183d-8b74-4a96-a9b3-72c3674fc4d7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427</Words>
  <Application>Microsoft Office PowerPoint</Application>
  <PresentationFormat>Panoramiczny</PresentationFormat>
  <Paragraphs>35</Paragraphs>
  <Slides>9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Aptos</vt:lpstr>
      <vt:lpstr>Arial</vt:lpstr>
      <vt:lpstr>Grandview Display</vt:lpstr>
      <vt:lpstr>DashVTI</vt:lpstr>
      <vt:lpstr>Symulator Daltonizmu</vt:lpstr>
      <vt:lpstr>Agenda</vt:lpstr>
      <vt:lpstr>Problematyka – czym jest daltonizm</vt:lpstr>
      <vt:lpstr>Problematyka – przykłady  niedowidzenia barw</vt:lpstr>
      <vt:lpstr>Algorytmy (Machado 2009)</vt:lpstr>
      <vt:lpstr>Wielowątkowość</vt:lpstr>
      <vt:lpstr>Widok aplikacji wraz z funkcjonalnościami</vt:lpstr>
      <vt:lpstr>Wnioski i podsumowanie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Smuda (ms312441)</dc:creator>
  <cp:lastModifiedBy>Mateusz Smuda (ms312441)</cp:lastModifiedBy>
  <cp:revision>5</cp:revision>
  <dcterms:created xsi:type="dcterms:W3CDTF">2025-12-16T08:35:05Z</dcterms:created>
  <dcterms:modified xsi:type="dcterms:W3CDTF">2025-12-17T11:16:54Z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0x010100FF89A9F0A5CB3443AFC70DD3E005EBB0</vt:lpwstr>
  </property>
</Properties>
</file>